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verpass Thin"/>
      <p:regular r:id="rId201314"/>
    </p:embeddedFont>
    <p:embeddedFont>
      <p:font typeface="Overpass ExtraLight"/>
      <p:regular r:id="rId201315"/>
    </p:embeddedFont>
    <p:embeddedFont>
      <p:font typeface="Overpass Light"/>
      <p:regular r:id="rId201316"/>
    </p:embeddedFont>
    <p:embeddedFont>
      <p:font typeface="Overpass"/>
      <p:regular r:id="rId201317"/>
    </p:embeddedFont>
    <p:embeddedFont>
      <p:font typeface="Overpass Medium"/>
      <p:regular r:id="rId201318"/>
    </p:embeddedFont>
    <p:embeddedFont>
      <p:font typeface="Overpass SemiBold"/>
      <p:regular r:id="rId201319"/>
    </p:embeddedFont>
    <p:embeddedFont>
      <p:font typeface="Overpass Bold"/>
      <p:regular r:id="rId201320"/>
    </p:embeddedFont>
    <p:embeddedFont>
      <p:font typeface="Overpass Black"/>
      <p:regular r:id="rId201321"/>
    </p:embeddedFont>
    <p:embeddedFont>
      <p:font typeface="Overpass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0207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06452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End-to-End Data Analytics Project Report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214092"/>
            <a:ext cx="651570" cy="227335"/>
          </a:xfrm>
          <a:prstGeom prst="roundRect">
            <a:avLst>
              <a:gd name="adj" fmla="val 22113"/>
            </a:avLst>
          </a:prstGeom>
          <a:solidFill>
            <a:srgbClr val="4C0124"/>
          </a:solidFill>
          <a:ln/>
        </p:spPr>
      </p:sp>
      <p:sp>
        <p:nvSpPr>
          <p:cNvPr id="6" name="Text 3"/>
          <p:cNvSpPr/>
          <p:nvPr/>
        </p:nvSpPr>
        <p:spPr>
          <a:xfrm>
            <a:off x="4042321" y="3258964"/>
            <a:ext cx="929283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78933" y="3214092"/>
            <a:ext cx="632445" cy="227335"/>
          </a:xfrm>
          <a:prstGeom prst="roundRect">
            <a:avLst>
              <a:gd name="adj" fmla="val 22113"/>
            </a:avLst>
          </a:prstGeom>
          <a:solidFill>
            <a:srgbClr val="4C0124"/>
          </a:solidFill>
          <a:ln/>
        </p:spPr>
      </p:sp>
      <p:sp>
        <p:nvSpPr>
          <p:cNvPr id="8" name="Text 5"/>
          <p:cNvSpPr/>
          <p:nvPr/>
        </p:nvSpPr>
        <p:spPr>
          <a:xfrm>
            <a:off x="4768676" y="3258964"/>
            <a:ext cx="91015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PANDAS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86164" y="3214092"/>
            <a:ext cx="572393" cy="227335"/>
          </a:xfrm>
          <a:prstGeom prst="roundRect">
            <a:avLst>
              <a:gd name="adj" fmla="val 22113"/>
            </a:avLst>
          </a:prstGeom>
          <a:solidFill>
            <a:srgbClr val="4C0124"/>
          </a:solidFill>
          <a:ln/>
        </p:spPr>
      </p:sp>
      <p:sp>
        <p:nvSpPr>
          <p:cNvPr id="10" name="Text 7"/>
          <p:cNvSpPr/>
          <p:nvPr/>
        </p:nvSpPr>
        <p:spPr>
          <a:xfrm>
            <a:off x="5475908" y="3258964"/>
            <a:ext cx="850106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MYSQL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3343" y="3214092"/>
            <a:ext cx="404887" cy="227335"/>
          </a:xfrm>
          <a:prstGeom prst="roundRect">
            <a:avLst>
              <a:gd name="adj" fmla="val 22113"/>
            </a:avLst>
          </a:prstGeom>
          <a:solidFill>
            <a:srgbClr val="4C0124"/>
          </a:solidFill>
          <a:ln/>
        </p:spPr>
      </p:sp>
      <p:sp>
        <p:nvSpPr>
          <p:cNvPr id="12" name="Text 9"/>
          <p:cNvSpPr/>
          <p:nvPr/>
        </p:nvSpPr>
        <p:spPr>
          <a:xfrm>
            <a:off x="6123087" y="3258964"/>
            <a:ext cx="68260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SQL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13016" y="3214092"/>
            <a:ext cx="728365" cy="227335"/>
          </a:xfrm>
          <a:prstGeom prst="roundRect">
            <a:avLst>
              <a:gd name="adj" fmla="val 22113"/>
            </a:avLst>
          </a:prstGeom>
          <a:solidFill>
            <a:srgbClr val="4C0124"/>
          </a:solidFill>
          <a:ln/>
        </p:spPr>
      </p:sp>
      <p:sp>
        <p:nvSpPr>
          <p:cNvPr id="14" name="Text 11"/>
          <p:cNvSpPr/>
          <p:nvPr/>
        </p:nvSpPr>
        <p:spPr>
          <a:xfrm>
            <a:off x="6602760" y="3258964"/>
            <a:ext cx="100607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POWER 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3385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73088"/>
            <a:ext cx="8096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This project analyzes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3,900 purchase records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through a complete analytics pipeline — Python for cleaning, MySQL for querying, and Power BI for visualization — uncovering purchasing patterns, customer segments, revenue drivers, and demographic trends.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3342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3,900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523577" y="30149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Records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84860" y="23342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$233K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284860" y="30149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6143" y="2334295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$59.76</a:t>
            </a:r>
            <a:endParaRPr lang="en-US" sz="3850" dirty="0"/>
          </a:p>
        </p:txBody>
      </p:sp>
      <p:sp>
        <p:nvSpPr>
          <p:cNvPr id="9" name="Text 7"/>
          <p:cNvSpPr/>
          <p:nvPr/>
        </p:nvSpPr>
        <p:spPr>
          <a:xfrm>
            <a:off x="6046143" y="30149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04181" y="360893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3.75</a:t>
            </a:r>
            <a:endParaRPr lang="en-US" sz="3850" dirty="0"/>
          </a:p>
        </p:txBody>
      </p:sp>
      <p:sp>
        <p:nvSpPr>
          <p:cNvPr id="11" name="Text 9"/>
          <p:cNvSpPr/>
          <p:nvPr/>
        </p:nvSpPr>
        <p:spPr>
          <a:xfrm>
            <a:off x="1904181" y="4289599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Avg. Rating /5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5464" y="3608933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25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4665464" y="4289599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Unique Products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991"/>
            <a:ext cx="8096845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Dataset &amp; Project Files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3577" y="1247552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609055"/>
            <a:ext cx="3868787" cy="116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raw CSV contains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3,900 rows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18 columns</a:t>
            </a:r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covering customer demographics, purchase details, product attributes, seasonality, ratings, subscription behavior, shipping preferences, discounts, payment methods, and purchase frequency.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3577" y="2940769"/>
            <a:ext cx="970285" cy="223689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F20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1907" y="2984897"/>
            <a:ext cx="1250826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4 CATEGORIES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67458" y="2940769"/>
            <a:ext cx="961727" cy="223689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F203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55787" y="2984897"/>
            <a:ext cx="1242268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25 PRODUCTS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2781" y="2940769"/>
            <a:ext cx="705594" cy="223689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F203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1110" y="2984897"/>
            <a:ext cx="986135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18 FIELDS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6398" y="1247552"/>
            <a:ext cx="38687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Project Files</a:t>
            </a:r>
            <a:endParaRPr lang="en-US" sz="13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398" y="1627138"/>
            <a:ext cx="1861914" cy="161188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998913" y="1793453"/>
            <a:ext cx="1453083" cy="64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customer_shopping_behavior_formatted.csv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98913" y="2588047"/>
            <a:ext cx="145308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Primary dataset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3271" y="1627138"/>
            <a:ext cx="1861914" cy="16118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05786" y="1793453"/>
            <a:ext cx="145308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import_to_sql.ipynb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05786" y="2371502"/>
            <a:ext cx="1453083" cy="701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Python/Pandas cleaning &amp; MySQL load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398" y="3383979"/>
            <a:ext cx="1861914" cy="11444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98913" y="3550295"/>
            <a:ext cx="145308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Customer_Behaviour_analysis.sql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998913" y="4128343"/>
            <a:ext cx="145308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SQL business queries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3271" y="3383979"/>
            <a:ext cx="1861914" cy="11444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5786" y="3550295"/>
            <a:ext cx="14530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Customer.pbix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05786" y="3911798"/>
            <a:ext cx="1453083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Power BI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9695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Data Cleaning &amp; Transformation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23577" y="989261"/>
            <a:ext cx="809684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Python notebook performs all preparation required before SQL analysis. </a:t>
            </a:r>
            <a:pPr algn="l" indent="0" marL="0">
              <a:lnSpc>
                <a:spcPct val="122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37 missing values</a:t>
            </a:r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in Review Rating were filled using the median rating within each product category, preserving category-level patterns.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07" y="1467073"/>
            <a:ext cx="7837512" cy="2940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5840" y="3593788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Remove &amp; Load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96033" y="3593788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Map Frequency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14321" y="3593788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Create Age Group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532610" y="3593788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Rename Column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8512" y="3593788"/>
            <a:ext cx="1182130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Standardize Names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3577" y="4523482"/>
            <a:ext cx="8554045" cy="200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transformed DataFrame was loaded into the MySQL </a:t>
            </a:r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customer_behaviour</a:t>
            </a:r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database as table </a:t>
            </a:r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mytable</a:t>
            </a:r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5156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Revenue &amp; Category Performance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31900"/>
            <a:ext cx="3900190" cy="2807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4995" y="1019547"/>
            <a:ext cx="390019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24995" y="1297037"/>
            <a:ext cx="3900190" cy="97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Clothing</a:t>
            </a:r>
            <a:pPr algn="l" indent="0" marL="0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dominates with $104,264 in revenue and 1,737 transactions. Accessories follows at $74,200. Together they drive the majority of total revenue.</a:t>
            </a:r>
            <a:endParaRPr lang="en-US" sz="9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Male customers generate more total revenue due to volume; females have a slightly higher average spend ($60.25 vs $59.54).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23577" y="4061445"/>
            <a:ext cx="3999012" cy="666824"/>
          </a:xfrm>
          <a:prstGeom prst="roundRect">
            <a:avLst>
              <a:gd name="adj" fmla="val 765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858" y="4187726"/>
            <a:ext cx="374645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Male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858" y="4425702"/>
            <a:ext cx="3746450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$157,890 (2,652 customers)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21337" y="4061445"/>
            <a:ext cx="3999086" cy="666824"/>
          </a:xfrm>
          <a:prstGeom prst="roundRect">
            <a:avLst>
              <a:gd name="adj" fmla="val 765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47617" y="4187726"/>
            <a:ext cx="374652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Female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7617" y="4425702"/>
            <a:ext cx="374652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$75,191 (1,248 customers)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0526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Ratings, Shipping &amp; Subscriptions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44489"/>
            <a:ext cx="1132656" cy="700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631504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Top-Rated Products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941216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Gloves lead at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3.86/5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followed by Sandals (3.84) and Boots (3.82). Ratings are tightly clustered across products.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744489"/>
            <a:ext cx="1132656" cy="7000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631504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Express vs Standard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941216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Express shipping orders average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vs $58.46 for Standard — a modest but consistent premium.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744489"/>
            <a:ext cx="1132656" cy="7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631504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Subscription Gap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941216"/>
            <a:ext cx="2574280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Non-subscribers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vs $62,645 for subscribers. Average spend is nearly identical — a clear opportunity to strengthen subscription value.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5156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Discounts &amp; Customer Segmentation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31900"/>
            <a:ext cx="3900190" cy="28073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4995" y="1019547"/>
            <a:ext cx="390019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Discount Dependence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24995" y="1297037"/>
            <a:ext cx="3900190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Hats have the highest discount-purchase rate at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50%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High reliance on promotions may erode margins without driving incremental sales.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24995" y="1748358"/>
            <a:ext cx="390019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Customer Loyalty Segments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3577" y="4061445"/>
            <a:ext cx="2633067" cy="666824"/>
          </a:xfrm>
          <a:prstGeom prst="roundRect">
            <a:avLst>
              <a:gd name="adj" fmla="val 765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858" y="4187726"/>
            <a:ext cx="2380506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Loyal (10+ purchases)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858" y="4425702"/>
            <a:ext cx="2380506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3,116 customers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55392" y="4061445"/>
            <a:ext cx="2633142" cy="666824"/>
          </a:xfrm>
          <a:prstGeom prst="roundRect">
            <a:avLst>
              <a:gd name="adj" fmla="val 765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1673" y="4187726"/>
            <a:ext cx="238058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Returning (2–10)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1673" y="4425702"/>
            <a:ext cx="2380580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701 customers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7281" y="4061445"/>
            <a:ext cx="2633142" cy="666824"/>
          </a:xfrm>
          <a:prstGeom prst="roundRect">
            <a:avLst>
              <a:gd name="adj" fmla="val 7657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13562" y="4187726"/>
            <a:ext cx="2380580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New (1 purchase)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13562" y="4425702"/>
            <a:ext cx="2380580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83 customers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965"/>
            <a:ext cx="8096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Age Group Revenue &amp; Power BI Dashboard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64865"/>
            <a:ext cx="3894460" cy="28032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725" y="1051545"/>
            <a:ext cx="3894460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30725" y="1343695"/>
            <a:ext cx="3894460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interactive report page combining KPI cards, charts, and slicers for exploring behavior by subscription, gender, category, and shipping type.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05" y="4111675"/>
            <a:ext cx="189309" cy="1893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3748" y="4107731"/>
            <a:ext cx="2199977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KPI Cards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933748" y="4357241"/>
            <a:ext cx="2199977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Avg. purchase, rating, customer count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4179" y="4111675"/>
            <a:ext cx="189309" cy="1893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77022" y="4107731"/>
            <a:ext cx="220005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Charts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677022" y="4357241"/>
            <a:ext cx="2200052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Revenue &amp; customers by category and age group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7528" y="4111675"/>
            <a:ext cx="189309" cy="1893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0371" y="4107731"/>
            <a:ext cx="220005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Slicers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420371" y="4357241"/>
            <a:ext cx="2200052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Subscription, gender, category, shipping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67841"/>
            <a:ext cx="466784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523577" y="864691"/>
            <a:ext cx="4667845" cy="902122"/>
          </a:xfrm>
          <a:prstGeom prst="roundRect">
            <a:avLst>
              <a:gd name="adj" fmla="val 4680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99" y="969913"/>
            <a:ext cx="301526" cy="301526"/>
          </a:xfrm>
          <a:prstGeom prst="ellipse">
            <a:avLst/>
          </a:prstGeom>
          <a:solidFill>
            <a:srgbClr val="F2037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696" y="1052810"/>
            <a:ext cx="135657" cy="1356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799" y="1338932"/>
            <a:ext cx="4457402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$233,081 Total Revenue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28799" y="1527200"/>
            <a:ext cx="44574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Avg. purchase $59.76; Fall highest season at $60,018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523577" y="1834307"/>
            <a:ext cx="4667845" cy="902122"/>
          </a:xfrm>
          <a:prstGeom prst="roundRect">
            <a:avLst>
              <a:gd name="adj" fmla="val 4680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8799" y="1939528"/>
            <a:ext cx="301526" cy="301526"/>
          </a:xfrm>
          <a:prstGeom prst="ellipse">
            <a:avLst/>
          </a:prstGeom>
          <a:solidFill>
            <a:srgbClr val="F2037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696" y="2022425"/>
            <a:ext cx="135657" cy="1356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8799" y="2308547"/>
            <a:ext cx="4457402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Clothing Dominates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28799" y="2496815"/>
            <a:ext cx="44574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$104,264 revenue — largest category by far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523577" y="2803922"/>
            <a:ext cx="4667845" cy="902122"/>
          </a:xfrm>
          <a:prstGeom prst="roundRect">
            <a:avLst>
              <a:gd name="adj" fmla="val 4680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8799" y="2909143"/>
            <a:ext cx="301526" cy="301526"/>
          </a:xfrm>
          <a:prstGeom prst="ellipse">
            <a:avLst/>
          </a:prstGeom>
          <a:solidFill>
            <a:srgbClr val="F2037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696" y="2992041"/>
            <a:ext cx="135657" cy="1356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8799" y="3278163"/>
            <a:ext cx="4457402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Loyal Customer Base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28799" y="3466430"/>
            <a:ext cx="44574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80% of customers are Loyal segment; Young Adults lead age-group revenue at $62,143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523577" y="3773537"/>
            <a:ext cx="4667845" cy="902122"/>
          </a:xfrm>
          <a:prstGeom prst="roundRect">
            <a:avLst>
              <a:gd name="adj" fmla="val 4680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8799" y="3878759"/>
            <a:ext cx="301526" cy="301526"/>
          </a:xfrm>
          <a:prstGeom prst="ellipse">
            <a:avLst/>
          </a:prstGeom>
          <a:solidFill>
            <a:srgbClr val="F2037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696" y="3961656"/>
            <a:ext cx="135657" cy="13565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8799" y="4247778"/>
            <a:ext cx="4457402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Subscription Opportunity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28799" y="4436046"/>
            <a:ext cx="4457402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Subscribers spend nearly the same as non-subscribers — value proposition needs strengthening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Recommendations &amp; Conclusion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00345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Business Recommendations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23577" y="2155478"/>
            <a:ext cx="168250" cy="168250"/>
          </a:xfrm>
          <a:prstGeom prst="roundRect">
            <a:avLst>
              <a:gd name="adj" fmla="val 18674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4868" y="2173560"/>
            <a:ext cx="10559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9183" y="2181151"/>
            <a:ext cx="375158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Strengthen subscription benefits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29183" y="2328490"/>
            <a:ext cx="375158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Subscribers don't spend more — improve the value proposition.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523577" y="2493020"/>
            <a:ext cx="168250" cy="168250"/>
          </a:xfrm>
          <a:prstGeom prst="roundRect">
            <a:avLst>
              <a:gd name="adj" fmla="val 18674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868" y="2511103"/>
            <a:ext cx="10559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29183" y="2518693"/>
            <a:ext cx="375158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Prioritize Clothing &amp; Accessories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29183" y="2666033"/>
            <a:ext cx="375158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They drive the majority of revenue.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523577" y="2830562"/>
            <a:ext cx="168250" cy="168250"/>
          </a:xfrm>
          <a:prstGeom prst="roundRect">
            <a:avLst>
              <a:gd name="adj" fmla="val 18674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868" y="2848645"/>
            <a:ext cx="10559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9183" y="2856235"/>
            <a:ext cx="375158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Leverage top-rated products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29183" y="3003575"/>
            <a:ext cx="375158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Gloves, Sandals, Boots in cross-selling strategies.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523577" y="3168104"/>
            <a:ext cx="168250" cy="168250"/>
          </a:xfrm>
          <a:prstGeom prst="roundRect">
            <a:avLst>
              <a:gd name="adj" fmla="val 18674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868" y="3186187"/>
            <a:ext cx="10559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9183" y="3193777"/>
            <a:ext cx="375158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Review discount dependence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29183" y="3341117"/>
            <a:ext cx="375158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Ensure promotions drive incremental sales, not just margin erosion.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523577" y="3505646"/>
            <a:ext cx="168250" cy="168250"/>
          </a:xfrm>
          <a:prstGeom prst="roundRect">
            <a:avLst>
              <a:gd name="adj" fmla="val 18674"/>
            </a:avLst>
          </a:prstGeom>
          <a:solidFill>
            <a:srgbClr val="7E023C"/>
          </a:solidFill>
          <a:ln w="4763">
            <a:solidFill>
              <a:srgbClr val="971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868" y="3523729"/>
            <a:ext cx="10559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9183" y="3531319"/>
            <a:ext cx="3751585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Target loyalty campaigns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29183" y="3678659"/>
            <a:ext cx="375158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Retain the large repeat-customer base; separate strategies for New/Returning.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4667994" y="724793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Project Architecture</a:t>
            </a:r>
            <a:endParaRPr lang="en-US" sz="6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994" y="876821"/>
            <a:ext cx="3957191" cy="39571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67994" y="4876056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This end-to-end workflow demonstrates a complete analytics pipeline — from raw data to interactive insights — providing a practical foundation for customer-focused retail decisions.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2026-07-27T16:49:33Z</dcterms:created>
  <dcterms:modified xsi:type="dcterms:W3CDTF">2026-07-27T16:49:33Z</dcterms:modified>
</cp:coreProperties>
</file>